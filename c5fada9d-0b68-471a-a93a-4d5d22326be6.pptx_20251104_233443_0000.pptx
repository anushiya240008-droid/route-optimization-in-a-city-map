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Times New Roman" charset="1" panose="02020603050405020304"/>
      <p:regular r:id="rId14"/>
    </p:embeddedFont>
    <p:embeddedFont>
      <p:font typeface="Calibri (MS) Bold" charset="1" panose="020F0702030404030204"/>
      <p:regular r:id="rId15"/>
    </p:embeddedFont>
    <p:embeddedFont>
      <p:font typeface="Calibri (MS)" charset="1" panose="020F0502020204030204"/>
      <p:regular r:id="rId16"/>
    </p:embeddedFont>
    <p:embeddedFont>
      <p:font typeface="TT Rounds Condensed Bold" charset="1" panose="020008060300000200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anushiya240008-droid/Route-optimization-in-a-city-map/blob/main/Program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80060" y="200025"/>
            <a:ext cx="7174325" cy="1260824"/>
            <a:chOff x="0" y="0"/>
            <a:chExt cx="9565767" cy="16810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65767" cy="1681099"/>
            </a:xfrm>
            <a:custGeom>
              <a:avLst/>
              <a:gdLst/>
              <a:ahLst/>
              <a:cxnLst/>
              <a:rect r="r" b="b" t="t" l="l"/>
              <a:pathLst>
                <a:path h="1681099" w="9565767">
                  <a:moveTo>
                    <a:pt x="0" y="0"/>
                  </a:moveTo>
                  <a:lnTo>
                    <a:pt x="9565767" y="0"/>
                  </a:lnTo>
                  <a:lnTo>
                    <a:pt x="9565767" y="1681099"/>
                  </a:lnTo>
                  <a:lnTo>
                    <a:pt x="0" y="1681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0640" r="0" b="-1306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1670" y="1558705"/>
            <a:ext cx="16218567" cy="4102022"/>
            <a:chOff x="0" y="0"/>
            <a:chExt cx="21624756" cy="54693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24756" cy="5469362"/>
            </a:xfrm>
            <a:custGeom>
              <a:avLst/>
              <a:gdLst/>
              <a:ahLst/>
              <a:cxnLst/>
              <a:rect r="r" b="b" t="t" l="l"/>
              <a:pathLst>
                <a:path h="5469362" w="21624756">
                  <a:moveTo>
                    <a:pt x="0" y="0"/>
                  </a:moveTo>
                  <a:lnTo>
                    <a:pt x="21624756" y="0"/>
                  </a:lnTo>
                  <a:lnTo>
                    <a:pt x="21624756" y="5469362"/>
                  </a:lnTo>
                  <a:lnTo>
                    <a:pt x="0" y="5469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1624756" cy="5450312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DEPARTMENT OF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CSE (ARTIFICIAL INTELLIGENCE AND MACHINE LEARNING)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ACADEMIC YEAR 2025 - 2026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SEMESTER III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ARTIFICIAL INTELLIGENCE LABORATORY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	</a:t>
              </a:r>
              <a:r>
                <a:rPr lang="en-US" sz="3600" b="true">
                  <a:solidFill>
                    <a:srgbClr val="00206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MINI PROJECT REVIEW</a:t>
              </a:r>
              <a:r>
                <a:rPr lang="en-US" sz="3600">
                  <a:solidFill>
                    <a:srgbClr val="00206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	</a:t>
              </a:r>
            </a:p>
            <a:p>
              <a:pPr algn="ctr">
                <a:lnSpc>
                  <a:spcPts val="3888"/>
                </a:lnSpc>
              </a:pPr>
            </a:p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Route optimization in a city map</a:t>
              </a:r>
            </a:p>
          </p:txBody>
        </p:sp>
      </p:grp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3148262" y="5758157"/>
          <a:ext cx="12560300" cy="3619500"/>
        </p:xfrm>
        <a:graphic>
          <a:graphicData uri="http://schemas.openxmlformats.org/drawingml/2006/table">
            <a:tbl>
              <a:tblPr/>
              <a:tblGrid>
                <a:gridCol w="3321618"/>
                <a:gridCol w="9238682"/>
              </a:tblGrid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REGISTER NUMBER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2117240030022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7239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NAME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Anushiya p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</a:tr>
              <a:tr h="7239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FACULTY IN-CHARGE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240"/>
                        </a:lnSpc>
                        <a:defRPr/>
                      </a:pPr>
                      <a:r>
                        <a:rPr lang="en-US" sz="27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Mrs. M. Divya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</a:tr>
            </a:tbl>
          </a:graphicData>
        </a:graphic>
      </p:graphicFrame>
      <p:grpSp>
        <p:nvGrpSpPr>
          <p:cNvPr name="Group 8" id="8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91364"/>
            <a:ext cx="18297525" cy="934954"/>
            <a:chOff x="0" y="0"/>
            <a:chExt cx="24396700" cy="124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246606"/>
            </a:xfrm>
            <a:custGeom>
              <a:avLst/>
              <a:gdLst/>
              <a:ahLst/>
              <a:cxnLst/>
              <a:rect r="r" b="b" t="t" l="l"/>
              <a:pathLst>
                <a:path h="1246606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246606"/>
                  </a:lnTo>
                  <a:lnTo>
                    <a:pt x="0" y="1246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396700" cy="118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b="true" sz="5939" spc="-36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PROBLEM STATEMENT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57300" y="1112958"/>
            <a:ext cx="15590520" cy="7475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3413" indent="-211138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Cities often have multiple routes between locations.</a:t>
            </a:r>
          </a:p>
          <a:p>
            <a:pPr algn="l" marL="633413" indent="-211138" lvl="2">
              <a:lnSpc>
                <a:spcPts val="3240"/>
              </a:lnSpc>
            </a:pPr>
          </a:p>
          <a:p>
            <a:pPr algn="l" marL="685800" indent="-228600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challenge is to find the most cost-efficient (shortest or least expensive) route.</a:t>
            </a:r>
          </a:p>
          <a:p>
            <a:pPr algn="l" marL="685800" indent="-228600" lvl="2">
              <a:lnSpc>
                <a:spcPts val="3240"/>
              </a:lnSpc>
            </a:pPr>
          </a:p>
          <a:p>
            <a:pPr algn="l" marL="685800" indent="-228600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search methods may not guarantee optimality.</a:t>
            </a:r>
          </a:p>
          <a:p>
            <a:pPr algn="l" marL="685800" indent="-228600" lvl="2">
              <a:lnSpc>
                <a:spcPts val="3240"/>
              </a:lnSpc>
            </a:pPr>
          </a:p>
          <a:p>
            <a:pPr algn="l" marL="633413" indent="-211138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Goal: Use Uniform Cost Search (UCS) to identify the least-cost path between two points in a city map.</a:t>
            </a:r>
          </a:p>
          <a:p>
            <a:pPr algn="l" marL="633413" indent="-211138" lvl="2">
              <a:lnSpc>
                <a:spcPts val="3240"/>
              </a:lnSpc>
            </a:pPr>
          </a:p>
          <a:p>
            <a:pPr algn="l" marL="633413" indent="-211138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Applications:</a:t>
            </a:r>
          </a:p>
          <a:p>
            <a:pPr algn="l" marL="633413" indent="-211138" lvl="2">
              <a:lnSpc>
                <a:spcPts val="3240"/>
              </a:lnSpc>
            </a:pPr>
          </a:p>
          <a:p>
            <a:pPr algn="l" marL="633413" indent="-211138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GPS Navigation Systems (Google Maps, Uber)</a:t>
            </a:r>
          </a:p>
          <a:p>
            <a:pPr algn="l" marL="633413" indent="-211138" lvl="2">
              <a:lnSpc>
                <a:spcPts val="3240"/>
              </a:lnSpc>
            </a:pPr>
          </a:p>
          <a:p>
            <a:pPr algn="l" marL="633413" indent="-211138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Delivery Route Optimization</a:t>
            </a:r>
          </a:p>
          <a:p>
            <a:pPr algn="l" marL="633413" indent="-211138" lvl="2">
              <a:lnSpc>
                <a:spcPts val="3240"/>
              </a:lnSpc>
            </a:pPr>
          </a:p>
          <a:p>
            <a:pPr algn="l" marL="633413" indent="-211138" lvl="2">
              <a:lnSpc>
                <a:spcPts val="3240"/>
              </a:lnSpc>
              <a:buFont typeface="Arial"/>
              <a:buChar char="⚬"/>
            </a:pPr>
            <a:r>
              <a:rPr lang="en-US" b="true" sz="3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Traffic Management Systems</a:t>
            </a:r>
          </a:p>
          <a:p>
            <a:pPr algn="l" marL="633413" indent="-211138" lvl="2">
              <a:lnSpc>
                <a:spcPts val="3240"/>
              </a:lnSpc>
            </a:pPr>
          </a:p>
          <a:p>
            <a:pPr algn="l" marL="633413" indent="-211138" lvl="2">
              <a:lnSpc>
                <a:spcPts val="32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91364"/>
            <a:ext cx="18297525" cy="934954"/>
            <a:chOff x="0" y="0"/>
            <a:chExt cx="24396700" cy="124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246606"/>
            </a:xfrm>
            <a:custGeom>
              <a:avLst/>
              <a:gdLst/>
              <a:ahLst/>
              <a:cxnLst/>
              <a:rect r="r" b="b" t="t" l="l"/>
              <a:pathLst>
                <a:path h="1246606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246606"/>
                  </a:lnTo>
                  <a:lnTo>
                    <a:pt x="0" y="1246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396700" cy="118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b="true" sz="5939" spc="-36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THEORETICAL BACKGROUND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89819" y="1431403"/>
            <a:ext cx="19636225" cy="849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Algorithm Steps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Initialize a priority queue and insert the start node with cost = 0.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Create an empty set to store visited nodes.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While the priority queue is not empty:</a:t>
            </a: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a. Remove the node with the smallest cumulative cost.</a:t>
            </a: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b. If this node is the goal, return the path and total cost.</a:t>
            </a: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c. If the node is not visited, mark it as visited.</a:t>
            </a: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d. For each neighbor of the node: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Calculate the new cumulative cost.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Add the neighbor and its cost to the priority queue.</a:t>
            </a: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</a:p>
          <a:p>
            <a:pPr algn="l">
              <a:lnSpc>
                <a:spcPts val="3051"/>
              </a:lnSpc>
            </a:pPr>
            <a:r>
              <a:rPr lang="en-US" sz="353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Repeat until the goal is found.</a:t>
            </a:r>
          </a:p>
          <a:p>
            <a:pPr algn="l">
              <a:lnSpc>
                <a:spcPts val="3051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585788"/>
            <a:ext cx="18297525" cy="934954"/>
            <a:chOff x="0" y="0"/>
            <a:chExt cx="24396700" cy="124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246606"/>
            </a:xfrm>
            <a:custGeom>
              <a:avLst/>
              <a:gdLst/>
              <a:ahLst/>
              <a:cxnLst/>
              <a:rect r="r" b="b" t="t" l="l"/>
              <a:pathLst>
                <a:path h="1246606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246606"/>
                  </a:lnTo>
                  <a:lnTo>
                    <a:pt x="0" y="1246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396700" cy="118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b="true" sz="5939" spc="-36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IMPLEMENTATION AND CODE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46014" y="1780618"/>
            <a:ext cx="17876628" cy="8415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16705" indent="-338902" lvl="2">
              <a:lnSpc>
                <a:spcPts val="5200"/>
              </a:lnSpc>
              <a:buFont typeface="Arial"/>
              <a:buChar char="⚬"/>
            </a:pPr>
            <a:r>
              <a:rPr lang="en-US" sz="481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Link to code in Git-hub Repository</a:t>
            </a:r>
          </a:p>
          <a:p>
            <a:pPr algn="l" marL="1016705" indent="-338902" lvl="2">
              <a:lnSpc>
                <a:spcPts val="5200"/>
              </a:lnSpc>
            </a:pPr>
          </a:p>
          <a:p>
            <a:pPr algn="l" marL="1016705" indent="-338902" lvl="2">
              <a:lnSpc>
                <a:spcPts val="52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3605521" y="2920026"/>
          <a:ext cx="7035800" cy="4559300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</a:tblGrid>
              <a:tr h="43456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List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Git-hub Repository Links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11348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Implementation of Code Link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 u="sng">
                          <a:solidFill>
                            <a:srgbClr val="0000F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  <a:hlinkClick r:id="rId2" tooltip="https://github.com/anushiya240008-droid/Route-optimization-in-a-city-map/blob/main/Program"/>
                        </a:rPr>
                        <a:t>https://github.com/anushiya240008-droid/Route-optimization-in-a-city-map/blob/main/Programsystem/blob/main/Program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</a:tr>
              <a:tr h="139166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Word Document Report Link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https://github.com/anushiya240008-droid/Route-optimization-in-a-city-map/blob/main/DOC-20251028-WA0004..docx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8"/>
                    </a:solidFill>
                  </a:tcPr>
                </a:tc>
              </a:tr>
              <a:tr h="159825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PPT Link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63"/>
                        </a:lnSpc>
                        <a:defRPr/>
                      </a:pPr>
                      <a:r>
                        <a:rPr lang="en-US" sz="2053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https://github.com/anushiya240008-droid/Route-optimization-in-a-city-map/blob/main/23d99696-02d8-4c05-9b79-a08d81bc8610.pptx_20251029_075208_0000.pdf </a:t>
                      </a:r>
                      <a:endParaRPr lang="en-US" sz="1100"/>
                    </a:p>
                  </a:txBody>
                  <a:tcPr marL="69548" marR="69548" marT="69548" marB="69548" anchor="ctr">
                    <a:lnL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347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585788"/>
            <a:ext cx="18297525" cy="934954"/>
            <a:chOff x="0" y="0"/>
            <a:chExt cx="24396700" cy="124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246606"/>
            </a:xfrm>
            <a:custGeom>
              <a:avLst/>
              <a:gdLst/>
              <a:ahLst/>
              <a:cxnLst/>
              <a:rect r="r" b="b" t="t" l="l"/>
              <a:pathLst>
                <a:path h="1246606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246606"/>
                  </a:lnTo>
                  <a:lnTo>
                    <a:pt x="0" y="1246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396700" cy="118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b="true" sz="5939" spc="-36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OUTPUT AND RESULTS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20132" y="2413950"/>
            <a:ext cx="12100785" cy="5788052"/>
            <a:chOff x="0" y="0"/>
            <a:chExt cx="16134380" cy="77174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134403" cy="7717410"/>
            </a:xfrm>
            <a:custGeom>
              <a:avLst/>
              <a:gdLst/>
              <a:ahLst/>
              <a:cxnLst/>
              <a:rect r="r" b="b" t="t" l="l"/>
              <a:pathLst>
                <a:path h="7717410" w="16134403">
                  <a:moveTo>
                    <a:pt x="0" y="0"/>
                  </a:moveTo>
                  <a:lnTo>
                    <a:pt x="16134403" y="0"/>
                  </a:lnTo>
                  <a:lnTo>
                    <a:pt x="16134403" y="7717410"/>
                  </a:lnTo>
                  <a:lnTo>
                    <a:pt x="0" y="7717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43" r="0" b="-1743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585788"/>
            <a:ext cx="18297525" cy="934954"/>
            <a:chOff x="0" y="0"/>
            <a:chExt cx="24396700" cy="124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246606"/>
            </a:xfrm>
            <a:custGeom>
              <a:avLst/>
              <a:gdLst/>
              <a:ahLst/>
              <a:cxnLst/>
              <a:rect r="r" b="b" t="t" l="l"/>
              <a:pathLst>
                <a:path h="1246606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246606"/>
                  </a:lnTo>
                  <a:lnTo>
                    <a:pt x="0" y="1246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396700" cy="118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b="true" sz="5939" spc="-36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OUTPUT AND RESULTS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48740" y="2022909"/>
            <a:ext cx="15590520" cy="5078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0744" indent="-206915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Explanation:</a:t>
            </a:r>
          </a:p>
          <a:p>
            <a:pPr algn="l" marL="620744" indent="-206915" lvl="2">
              <a:lnSpc>
                <a:spcPts val="2540"/>
              </a:lnSpc>
            </a:pPr>
          </a:p>
          <a:p>
            <a:pPr algn="l" marL="620744" indent="-206915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UCS explores all possible routes and chooses the one with the least total cost.</a:t>
            </a:r>
          </a:p>
          <a:p>
            <a:pPr algn="l" marL="620744" indent="-206915" lvl="2">
              <a:lnSpc>
                <a:spcPts val="2540"/>
              </a:lnSpc>
            </a:pPr>
          </a:p>
          <a:p>
            <a:pPr algn="l" marL="620557" indent="-206852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this case:</a:t>
            </a:r>
          </a:p>
          <a:p>
            <a:pPr algn="l" marL="620557" indent="-206852" lvl="2">
              <a:lnSpc>
                <a:spcPts val="2540"/>
              </a:lnSpc>
            </a:pPr>
          </a:p>
          <a:p>
            <a:pPr algn="l" marL="620557" indent="-206852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→ B → C → D = Cost 2 + 1 + 2 = 5</a:t>
            </a:r>
          </a:p>
          <a:p>
            <a:pPr algn="l" marL="620557" indent="-206852" lvl="2">
              <a:lnSpc>
                <a:spcPts val="2540"/>
              </a:lnSpc>
            </a:pPr>
          </a:p>
          <a:p>
            <a:pPr algn="l" marL="620744" indent="-206915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Other paths had higher costs, so they were not selected.</a:t>
            </a:r>
          </a:p>
          <a:p>
            <a:pPr algn="l" marL="620744" indent="-206915" lvl="2">
              <a:lnSpc>
                <a:spcPts val="2540"/>
              </a:lnSpc>
            </a:pPr>
          </a:p>
          <a:p>
            <a:pPr algn="l" marL="620744" indent="-206915" lvl="2">
              <a:lnSpc>
                <a:spcPts val="2540"/>
              </a:lnSpc>
            </a:pPr>
          </a:p>
          <a:p>
            <a:pPr algn="l" marL="620744" indent="-206915" lvl="2">
              <a:lnSpc>
                <a:spcPts val="2540"/>
              </a:lnSpc>
            </a:pPr>
          </a:p>
          <a:p>
            <a:pPr algn="l" marL="620557" indent="-206852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 Visualization (optional):</a:t>
            </a:r>
          </a:p>
          <a:p>
            <a:pPr algn="l" marL="620557" indent="-206852" lvl="2">
              <a:lnSpc>
                <a:spcPts val="2540"/>
              </a:lnSpc>
            </a:pPr>
          </a:p>
          <a:p>
            <a:pPr algn="l" marL="620557" indent="-206852" lvl="2">
              <a:lnSpc>
                <a:spcPts val="2540"/>
              </a:lnSpc>
              <a:buFont typeface="Arial"/>
              <a:buChar char="⚬"/>
            </a:pPr>
            <a:r>
              <a:rPr lang="en-US" b="true" sz="294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Display graph/map using matplotlib or draw a simple route diagram.</a:t>
            </a:r>
          </a:p>
          <a:p>
            <a:pPr algn="l" marL="620557" indent="-206852" lvl="2">
              <a:lnSpc>
                <a:spcPts val="25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762" y="585788"/>
            <a:ext cx="18297525" cy="934954"/>
            <a:chOff x="0" y="0"/>
            <a:chExt cx="24396700" cy="12466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700" cy="1246606"/>
            </a:xfrm>
            <a:custGeom>
              <a:avLst/>
              <a:gdLst/>
              <a:ahLst/>
              <a:cxnLst/>
              <a:rect r="r" b="b" t="t" l="l"/>
              <a:pathLst>
                <a:path h="1246606" w="24396700">
                  <a:moveTo>
                    <a:pt x="0" y="0"/>
                  </a:moveTo>
                  <a:lnTo>
                    <a:pt x="24396700" y="0"/>
                  </a:lnTo>
                  <a:lnTo>
                    <a:pt x="24396700" y="1246606"/>
                  </a:lnTo>
                  <a:lnTo>
                    <a:pt x="0" y="12466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24396700" cy="1189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15"/>
                </a:lnSpc>
              </a:pPr>
              <a:r>
                <a:rPr lang="en-US" b="true" sz="5939" spc="-36">
                  <a:solidFill>
                    <a:srgbClr val="000000"/>
                  </a:solidFill>
                  <a:latin typeface="TT Rounds Condensed Bold"/>
                  <a:ea typeface="TT Rounds Condensed Bold"/>
                  <a:cs typeface="TT Rounds Condensed Bold"/>
                  <a:sym typeface="TT Rounds Condensed Bold"/>
                </a:rPr>
                <a:t>REFERENCES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272190" y="2139590"/>
            <a:ext cx="15590520" cy="5724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6777" indent="-295592" lvl="2">
              <a:lnSpc>
                <a:spcPts val="4536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Stuart Russell and Peter Norvig, Artificial Intelligence: A Modern Approach, 4th Edition.</a:t>
            </a:r>
          </a:p>
          <a:p>
            <a:pPr algn="l" marL="886777" indent="-295592" lvl="2">
              <a:lnSpc>
                <a:spcPts val="4536"/>
              </a:lnSpc>
            </a:pPr>
          </a:p>
          <a:p>
            <a:pPr algn="l" marL="886777" indent="-295592" lvl="2">
              <a:lnSpc>
                <a:spcPts val="4536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GeeksforGeeks – “Uniform Cost Search (UCS) Algorithm.”</a:t>
            </a:r>
          </a:p>
          <a:p>
            <a:pPr algn="l" marL="886777" indent="-295592" lvl="2">
              <a:lnSpc>
                <a:spcPts val="4536"/>
              </a:lnSpc>
            </a:pPr>
          </a:p>
          <a:p>
            <a:pPr algn="l" marL="886777" indent="-295592" lvl="2">
              <a:lnSpc>
                <a:spcPts val="4536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Python NetworkX documentation – Graph representation and pathfinding.</a:t>
            </a:r>
          </a:p>
          <a:p>
            <a:pPr algn="l" marL="886777" indent="-295592" lvl="2">
              <a:lnSpc>
                <a:spcPts val="4536"/>
              </a:lnSpc>
            </a:pPr>
          </a:p>
          <a:p>
            <a:pPr algn="l" marL="886777" indent="-295592" lvl="2">
              <a:lnSpc>
                <a:spcPts val="4536"/>
              </a:lnSpc>
              <a:buFont typeface="Arial"/>
              <a:buChar char="⚬"/>
            </a:pPr>
            <a:r>
              <a:rPr lang="en-US" b="true" sz="4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TutorialsPoint – “AI Search Algorithms.”</a:t>
            </a:r>
          </a:p>
          <a:p>
            <a:pPr algn="l" marL="696753" indent="-232251" lvl="2">
              <a:lnSpc>
                <a:spcPts val="3564"/>
              </a:lnSpc>
            </a:pPr>
            <a:r>
              <a:rPr lang="en-US" b="true" sz="33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Research papers on AI-based route optimization in smart cities.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57300" y="9505950"/>
            <a:ext cx="4114800" cy="576263"/>
            <a:chOff x="0" y="0"/>
            <a:chExt cx="5486400" cy="76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10/28/2025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915900" y="9505950"/>
            <a:ext cx="4114800" cy="576263"/>
            <a:chOff x="0" y="0"/>
            <a:chExt cx="5486400" cy="7683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86400" cy="768351"/>
            </a:xfrm>
            <a:custGeom>
              <a:avLst/>
              <a:gdLst/>
              <a:ahLst/>
              <a:cxnLst/>
              <a:rect r="r" b="b" t="t" l="l"/>
              <a:pathLst>
                <a:path h="768351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8351"/>
                  </a:lnTo>
                  <a:lnTo>
                    <a:pt x="0" y="76835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5486400" cy="8064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DAG3wXFSg5s</dc:identifier>
  <dcterms:modified xsi:type="dcterms:W3CDTF">2011-08-01T06:04:30Z</dcterms:modified>
  <cp:revision>1</cp:revision>
  <dc:title>c5fada9d-0b68-471a-a93a-4d5d22326be6.pptx</dc:title>
</cp:coreProperties>
</file>